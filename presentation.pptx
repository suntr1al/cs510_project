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 snapToObjects="1">
      <p:cViewPr varScale="1">
        <p:scale>
          <a:sx n="150" d="100"/>
          <a:sy n="150" d="100"/>
        </p:scale>
        <p:origin x="45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99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framing the talk as a technical pattern: preserve the frozen CLIP interface, add a small residual correction, and audit relation gains against retrieval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dog-left versus dog-right example to explain why relation edits are a useful diagnostic. The failure is not that CLIP knows nothing; it often recognizes objects while underweighting the binding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expands the related-work positioning from paper section 2. The key distinction is not that structure is unhelpful; it is that many structured methods change the deployed interface that makes CLIP attractive.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the claim boundary explicit. The paper does not claim to invent residual adapters or preservation constraints. It claims a particular bounded residual recipe and an analysis of where that recipe succeeds and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setup from method section 3. RRB deliberately rules out stronger reasoning machinery so the evaluation is about correcting the frozen embedding rather than replacing CLIP with a new matcher.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architecture figure. Frozen token features feed a parser-free bottleneck. The residual direction is bounded by alpha, and the frozen representation stays dominant.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training signal from section 3. Structured counterfactuals are not generic hard negatives: the edited caption is close in vocabulary but wrong in binding. Anchor and residual penalties are the guardrail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consolidated experiment slide replaces the separate design, ablation, stability, and boundary slides. Explain the run families as evidence logic: the selected checkpoint is not a single lucky number, but a point supported and bounded by controls, ablations, seed families, and external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main quantitative claim. R028 is not lossless; it is a better relation-versus-preservation point than hard-token or no-channel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claim that the evidence actually supports: RRB can find a useful bounded residual direction, but the current recipe is not a full solution to compositional binding or robust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data.org/submissions/69cc3194dc0c4f1963eab7a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2563EB"/>
                </a:solidFill>
              </a:rPr>
              <a:t>RRB / CLIP RELATION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96012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dirty="0">
                <a:solidFill>
                  <a:srgbClr val="1F2937"/>
                </a:solidFill>
              </a:rPr>
              <a:t>R</a:t>
            </a:r>
            <a:r>
              <a:rPr lang="en-US" altLang="zh-CN" sz="3400" b="1" dirty="0">
                <a:solidFill>
                  <a:srgbClr val="1F2937"/>
                </a:solidFill>
              </a:rPr>
              <a:t>esearch: R</a:t>
            </a:r>
            <a:r>
              <a:rPr sz="3400" b="1" dirty="0">
                <a:solidFill>
                  <a:srgbClr val="1F2937"/>
                </a:solidFill>
              </a:rPr>
              <a:t>elational Residual Bottlenecking for CLIP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42316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dirty="0">
                <a:solidFill>
                  <a:srgbClr val="6B7280"/>
                </a:solidFill>
              </a:rPr>
              <a:t>A bounded residual route to relation-sensitive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154680"/>
            <a:ext cx="530352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3977639"/>
            <a:ext cx="2331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4087368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</a:rPr>
              <a:t>frozen CLIP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3977639"/>
            <a:ext cx="2331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0168" y="4087368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</a:rPr>
              <a:t>bounded residual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977639"/>
            <a:ext cx="2331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4087368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</a:rPr>
              <a:t>guardrail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5486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dirty="0">
                <a:solidFill>
                  <a:srgbClr val="6B7280"/>
                </a:solidFill>
              </a:rPr>
              <a:t>CS510, </a:t>
            </a:r>
            <a:r>
              <a:rPr sz="1200" b="0" dirty="0">
                <a:solidFill>
                  <a:srgbClr val="6B7280"/>
                </a:solidFill>
              </a:rPr>
              <a:t>May 2026</a:t>
            </a:r>
            <a:endParaRPr lang="en-US" sz="1200" b="0" dirty="0">
              <a:solidFill>
                <a:srgbClr val="6B7280"/>
              </a:solidFill>
            </a:endParaRPr>
          </a:p>
          <a:p>
            <a:r>
              <a:rPr lang="en-US" sz="1200" dirty="0">
                <a:solidFill>
                  <a:srgbClr val="6B7280"/>
                </a:solidFill>
                <a:hlinkClick r:id="rId3"/>
              </a:rPr>
              <a:t>https://textdata.org/submissions/69cc3194dc0c4f1963eab7ab</a:t>
            </a:r>
            <a:r>
              <a:rPr lang="en-US" sz="1200" dirty="0">
                <a:solidFill>
                  <a:srgbClr val="6B7280"/>
                </a:solidFill>
              </a:rPr>
              <a:t> </a:t>
            </a:r>
            <a:endParaRPr sz="1200" b="0" dirty="0">
              <a:solidFill>
                <a:srgbClr val="6B728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6858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dirty="0">
                <a:solidFill>
                  <a:srgbClr val="1F2937"/>
                </a:solidFill>
              </a:rPr>
              <a:t>Zixuan Sun, Dehao Wu, Tianyi Wang, Yifei Wang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CLIP can keep the objects and miss the 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17904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1417320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50" b="0">
                <a:solidFill>
                  <a:srgbClr val="1F2937"/>
                </a:solidFill>
              </a:rPr>
              <a:t>Counterfactual captions keep surface vocabulary close.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194560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093976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50" b="0">
                <a:solidFill>
                  <a:srgbClr val="1F2937"/>
                </a:solidFill>
              </a:rPr>
              <a:t>The target change is relation, role, order, object, or attribute binding.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871216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770632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50" b="0">
                <a:solidFill>
                  <a:srgbClr val="1F2937"/>
                </a:solidFill>
              </a:rPr>
              <a:t>A high similarity score is not enough if the binding is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325880"/>
            <a:ext cx="4160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435607"/>
            <a:ext cx="388620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F2937"/>
                </a:solidFill>
              </a:rPr>
              <a:t>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470916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624328"/>
            <a:ext cx="4434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</a:rPr>
              <a:t>"dog left of bicycle"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4709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087368"/>
            <a:ext cx="4434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</a:rPr>
              <a:t>"dog right of bicycle"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503920" y="3182112"/>
            <a:ext cx="237744" cy="566928"/>
          </a:xfrm>
          <a:prstGeom prst="downArrow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331012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>
                <a:solidFill>
                  <a:srgbClr val="6B7280"/>
                </a:solidFill>
              </a:rPr>
              <a:t>small edit, different 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RELATED WORK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Existing relation fixes often change the retrieval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F2937"/>
                </a:solidFill>
              </a:rPr>
              <a:t>CLIP compositional probes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29844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ARO, SugarCrepe, Winoground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4983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20" b="0">
                <a:solidFill>
                  <a:srgbClr val="1F2937"/>
                </a:solidFill>
              </a:rPr>
              <a:t>Show bag-of-words behavior under relation, attribute, and order edits.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48255"/>
            <a:ext cx="10744200" cy="731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432304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F2937"/>
                </a:solidFill>
              </a:rPr>
              <a:t>Structured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323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scene graphs, semantic graphs, graph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14016"/>
            <a:ext cx="4983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20" b="0">
                <a:solidFill>
                  <a:srgbClr val="1F2937"/>
                </a:solidFill>
              </a:rPr>
              <a:t>Expose relation structure, but often add parsers, graphs, or pairwise matching modules.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82112"/>
            <a:ext cx="10744200" cy="731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5661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F2937"/>
                </a:solidFill>
              </a:rPr>
              <a:t>Spatial / knowledge cues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5661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spatial supervision, 3D graphs, knowledge graphs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47872"/>
            <a:ext cx="4983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20" b="0">
                <a:solidFill>
                  <a:srgbClr val="1F2937"/>
                </a:solidFill>
              </a:rPr>
              <a:t>Improve explicit structure, but move away from plain dual-encoder retrieval.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315968"/>
            <a:ext cx="10744200" cy="731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97280" y="5623560"/>
            <a:ext cx="1001268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39" y="5733288"/>
            <a:ext cx="9738359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</a:rPr>
              <a:t>RRB keeps independent image/text embeddings and dot-product retrieval.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RELATED WORK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The closest prior art motivates a narrower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F2937"/>
                </a:solidFill>
              </a:rPr>
              <a:t>Reasoning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29844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scene-graph prompting, MIRB, causal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4983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20" b="0">
                <a:solidFill>
                  <a:srgbClr val="1F2937"/>
                </a:solidFill>
              </a:rPr>
              <a:t>Motivate relation-sensitive evaluation, but mainly test broader multimodal reasoning settings.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48255"/>
            <a:ext cx="10744200" cy="731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432304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F2937"/>
                </a:solidFill>
              </a:rPr>
              <a:t>Relation-aware CLIP adaptation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323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local RACA-CLIP manuscript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14016"/>
            <a:ext cx="4983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20" b="0">
                <a:solidFill>
                  <a:srgbClr val="1F2937"/>
                </a:solidFill>
              </a:rPr>
              <a:t>Conceptual prior art for relation sensitivity; RRB emphasizes residual preservation tradeoffs.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82112"/>
            <a:ext cx="10744200" cy="731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5661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F2937"/>
                </a:solidFill>
              </a:rPr>
              <a:t>Preservation-oriented PEFT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5661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LoRA, null-space, projection, residual adapters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47872"/>
            <a:ext cx="4983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20" b="0">
                <a:solidFill>
                  <a:srgbClr val="1F2937"/>
                </a:solidFill>
              </a:rPr>
              <a:t>Provides adaptation tools; RRB does not claim residual adaptation itself is novel.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315968"/>
            <a:ext cx="10744200" cy="731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97280" y="5623560"/>
            <a:ext cx="1001268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39" y="5733288"/>
            <a:ext cx="9738359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</a:rPr>
              <a:t>Supported contribution: structured counterfactual training through a bounded residual interface, evaluated as a tradeoff.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METHOD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The method is constrained to the CLIP dual-encoder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26464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50" b="0">
                <a:solidFill>
                  <a:srgbClr val="1F2937"/>
                </a:solidFill>
              </a:rPr>
              <a:t>Frozen image encoder f_v and text encoder f_t produce normalized z0.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048255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50" b="0">
                <a:solidFill>
                  <a:srgbClr val="1F2937"/>
                </a:solidFill>
              </a:rPr>
              <a:t>Image and text embeddings remain computable independently.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670048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69464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50" b="0">
                <a:solidFill>
                  <a:srgbClr val="1F2937"/>
                </a:solidFill>
              </a:rPr>
              <a:t>No detector, parser, cross-attention reranker, scene graph, or candidate-pair module is added.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291840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91256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50" b="0">
                <a:solidFill>
                  <a:srgbClr val="1F2937"/>
                </a:solidFill>
              </a:rPr>
              <a:t>Final retrieval remains one dot product between normalized vectors.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508760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618488"/>
            <a:ext cx="301752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</a:rPr>
              <a:t>z_v = f_v(I)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331720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2441448"/>
            <a:ext cx="301752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</a:rPr>
              <a:t>z_t = f_t(T)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657600"/>
            <a:ext cx="3977639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3767328"/>
            <a:ext cx="3703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</a:rPr>
              <a:t>sim(I,T) = dot(z_v, z_t)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709160"/>
            <a:ext cx="4389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0">
                <a:solidFill>
                  <a:srgbClr val="6B7280"/>
                </a:solidFill>
              </a:rPr>
              <a:t>Design consequence: relation correction must fit inside the embedding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METHOD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RRB adds a small residual path, not a replacement embedding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rb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43000"/>
            <a:ext cx="681228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325880"/>
            <a:ext cx="3246120" cy="51206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435607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F2937"/>
                </a:solidFill>
              </a:rPr>
              <a:t>K = 8 learned channel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258568"/>
            <a:ext cx="32461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368296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F2937"/>
                </a:solidFill>
              </a:rPr>
              <a:t>channel self-attention + pooling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191256"/>
            <a:ext cx="3246120" cy="51206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3300984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1F2937"/>
                </a:solidFill>
              </a:rPr>
              <a:t>z_out = normalize(z0 + alpha Delta)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23944"/>
            <a:ext cx="3246120" cy="51206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4233672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1F2937"/>
                </a:solidFill>
              </a:rPr>
              <a:t>fixed alpha =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5257800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6B7280"/>
                </a:solidFill>
              </a:rPr>
              <a:t>The bottleneck constrains where the relation objective can move CLIP.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METHOD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The objective separates relation signal from preservation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287000" cy="65836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44168"/>
            <a:ext cx="10012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</a:rPr>
              <a:t>L = lambda_rel L_intervene + lambda_anchor L_anchor + lambda_delta L_delta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L_intervene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31720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1">
                <a:solidFill>
                  <a:srgbClr val="1F2937"/>
                </a:solidFill>
              </a:rPr>
              <a:t>margin ranking over structured counterfactual captions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331720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60" b="0">
                <a:solidFill>
                  <a:srgbClr val="1F2937"/>
                </a:solidFill>
              </a:rPr>
              <a:t>forces positive caption above edited relation negative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90087"/>
            <a:ext cx="10058400" cy="548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L_anchor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337560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1">
                <a:solidFill>
                  <a:srgbClr val="1F2937"/>
                </a:solidFill>
              </a:rPr>
              <a:t>feature mimicry on anchor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337560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60" b="0">
                <a:solidFill>
                  <a:srgbClr val="1F2937"/>
                </a:solidFill>
              </a:rPr>
              <a:t>keeps output embeddings close to frozen OpenCLIP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95928"/>
            <a:ext cx="10058400" cy="548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L_delta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343400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1">
                <a:solidFill>
                  <a:srgbClr val="1F2937"/>
                </a:solidFill>
              </a:rPr>
              <a:t>residual magnitude penalty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343400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60" b="0">
                <a:solidFill>
                  <a:srgbClr val="1F2937"/>
                </a:solidFill>
              </a:rPr>
              <a:t>keeps Delta small before the fixed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001768"/>
            <a:ext cx="10058400" cy="548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70" b="0">
                <a:solidFill>
                  <a:srgbClr val="6B7280"/>
                </a:solidFill>
              </a:rPr>
              <a:t>Selected R028 uses lambda_anchor = 10, lambda_delta = 0.01, anchor ratio = 0.75, and no targeted relational loss.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EXPERIMENT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The run families isolate signal, stability, and claim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2563EB"/>
                </a:solidFill>
              </a:rPr>
              <a:t>Selection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3474720" cy="91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R003 / R005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frozen OpenCLIP and plain-adapter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dirty="0">
                <a:solidFill>
                  <a:srgbClr val="1F2937"/>
                </a:solidFill>
              </a:rPr>
              <a:t>reference relation/guardrail tradeoff before RRB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88335"/>
            <a:ext cx="3474720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3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R011 / R014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7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hard-token replacement bottlenecks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3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stress test: relation can rise while COCO/ImageNet collapse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21607"/>
            <a:ext cx="3474720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5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79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selected no-targeted stronger-anchor RRB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5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chosen because it passes relation, COCO, and ImageNet gates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79"/>
            <a:ext cx="3474720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7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R033 / R040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02351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no-channel residual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67527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test whether a simpler residual path preserves CLIP; it does not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1234440"/>
            <a:ext cx="9144" cy="4526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1261872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2563EB"/>
                </a:solidFill>
              </a:rPr>
              <a:t>Training signal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572768"/>
            <a:ext cx="3429000" cy="91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15968" y="1764792"/>
            <a:ext cx="3429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2002536"/>
            <a:ext cx="3429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no-targeted weak-anchor RRB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267712"/>
            <a:ext cx="3429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shows targeted slot loss is unnecessary but weak anchoring misses COCO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2980944"/>
            <a:ext cx="3429000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15968" y="3090672"/>
            <a:ext cx="3429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328415"/>
            <a:ext cx="3429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generic hard-negative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593591"/>
            <a:ext cx="3429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rules out generic hard negatives; relation falls below the plain adapter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4306824"/>
            <a:ext cx="3429000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15968" y="4416552"/>
            <a:ext cx="3429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4654296"/>
            <a:ext cx="3429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matched targeted stronger-anchor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919472"/>
            <a:ext cx="3429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adds targeted loss back; no tradeoff advantage over R028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46136" y="1234440"/>
            <a:ext cx="9144" cy="4526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36992" y="1261872"/>
            <a:ext cx="34930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2563EB"/>
                </a:solidFill>
              </a:rPr>
              <a:t>Stability and limits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36992" y="1572768"/>
            <a:ext cx="3493008" cy="91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36992" y="1764792"/>
            <a:ext cx="34930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R019 / R025 / R027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002536"/>
            <a:ext cx="34930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full-RRB seed family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2267712"/>
            <a:ext cx="34930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relation stable, but COCO gate passes only 1/3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36992" y="2688335"/>
            <a:ext cx="3493008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36992" y="2798063"/>
            <a:ext cx="34930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R028 / R031 / R032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3035807"/>
            <a:ext cx="34930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anchor-10 no-targeted family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6992" y="3300983"/>
            <a:ext cx="34930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selected recipe repeats relation gain; COCO passes 2/3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36992" y="3721607"/>
            <a:ext cx="3493008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36992" y="3831335"/>
            <a:ext cx="34930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R035-R039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4069079"/>
            <a:ext cx="34930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anchor-20 no-targeted sweep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4334255"/>
            <a:ext cx="34930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lower residual drift, but COCO pass rate remains 3/5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36992" y="4754879"/>
            <a:ext cx="3493008" cy="457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36992" y="4864607"/>
            <a:ext cx="34930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80" b="1">
                <a:solidFill>
                  <a:srgbClr val="2563EB"/>
                </a:solidFill>
              </a:rPr>
              <a:t>R030 / R034 / R041 / R043 / R045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6992" y="5102351"/>
            <a:ext cx="34930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0" b="1">
                <a:solidFill>
                  <a:srgbClr val="1F2937"/>
                </a:solidFill>
              </a:rPr>
              <a:t>diagnostics, Winoground, channel probe, ROP, Flickr30k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6992" y="5367527"/>
            <a:ext cx="34930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1F2937"/>
                </a:solidFill>
              </a:rPr>
              <a:t>bound the claim: no broad binding, no semantic slots, retrieval tax remains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MAIN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Selected R028 improves relation while staying above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rb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170432"/>
            <a:ext cx="658368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261872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1">
                <a:solidFill>
                  <a:srgbClr val="2563EB"/>
                </a:solidFill>
              </a:rPr>
              <a:t>R005 plain adapter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58191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0" b="1">
                <a:solidFill>
                  <a:srgbClr val="1F2937"/>
                </a:solidFill>
              </a:rPr>
              <a:t>relation 0.6956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29384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80" b="0">
                <a:solidFill>
                  <a:srgbClr val="6B7280"/>
                </a:solidFill>
              </a:rPr>
              <a:t>safe but weaker relation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560320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1">
                <a:solidFill>
                  <a:srgbClr val="2563EB"/>
                </a:solidFill>
              </a:rPr>
              <a:t>R028 selected RRB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880360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0" b="1">
                <a:solidFill>
                  <a:srgbClr val="1F2937"/>
                </a:solidFill>
              </a:rPr>
              <a:t>relation 0.7734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227832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80" b="0">
                <a:solidFill>
                  <a:srgbClr val="6B7280"/>
                </a:solidFill>
              </a:rPr>
              <a:t>passes COCO 0.7340 and ImageNet 0.6342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858768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1">
                <a:solidFill>
                  <a:srgbClr val="2563EB"/>
                </a:solidFill>
              </a:rPr>
              <a:t>R033 no-channel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178807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20" b="1">
                <a:solidFill>
                  <a:srgbClr val="1F2937"/>
                </a:solidFill>
              </a:rPr>
              <a:t>relation 0.7825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526279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80" b="0">
                <a:solidFill>
                  <a:srgbClr val="6B7280"/>
                </a:solidFill>
              </a:rPr>
              <a:t>higher relation but COCO collapses to 0.3740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2563EB"/>
                </a:solidFill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Best claim: a bounded relation-preservation tradeoff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64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609344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2728" y="1508760"/>
            <a:ext cx="9464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</a:rPr>
              <a:t>RRB keeps CLIP's deployed dual-encoder interface intact.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359151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2728" y="2258568"/>
            <a:ext cx="9464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</a:rPr>
              <a:t>Structured relation counterfactuals are the useful signal.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108960"/>
            <a:ext cx="77724" cy="777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3008376"/>
            <a:ext cx="9464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</a:rPr>
              <a:t>Preservation must be measured directly across seeds and external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800600"/>
            <a:ext cx="9875520" cy="7132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39" y="4910328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</a:rPr>
              <a:t>relation gains are useful only when preservation is 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150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2937"/>
                </a:solidFill>
              </a:rPr>
              <a:t>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1225</Words>
  <Application>Microsoft Office PowerPoint</Application>
  <PresentationFormat>宽屏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Zixuan Sun</cp:lastModifiedBy>
  <cp:revision>5</cp:revision>
  <dcterms:created xsi:type="dcterms:W3CDTF">2013-01-27T09:14:16Z</dcterms:created>
  <dcterms:modified xsi:type="dcterms:W3CDTF">2026-05-12T18:40:07Z</dcterms:modified>
  <cp:category/>
</cp:coreProperties>
</file>