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2"/>
  </p:normalViewPr>
  <p:slideViewPr>
    <p:cSldViewPr snapToGrid="0" snapToObjects="1">
      <p:cViewPr varScale="1">
        <p:scale>
          <a:sx n="150" d="100"/>
          <a:sy n="150" d="100"/>
        </p:scale>
        <p:origin x="456" y="1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19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by framing the talk as a technical pattern: preserve the frozen CLIP interface, add a small residual correction, and audit relation gains against retrieval guardrails.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the dog-left versus dog-right example to explain why relation edits are a useful diagnostic. The failure is not that CLIP knows nothing; it often recognizes objects while underweighting the binding relation.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slide expands the related-work positioning from paper section 2. The key distinction is not that structure is unhelpful; it is that many structured methods change the deployed interface that makes CLIP attractive.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Make the claim boundary explicit. The paper does not claim to invent residual adapters or preservation constraints. It claims a particular bounded residual recipe and an analysis of where that recipe succeeds and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setup from method section 3. RRB deliberately rules out stronger reasoning machinery so the evaluation is about correcting the frozen embedding rather than replacing CLIP with a new matcher.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the architecture figure. Frozen token features feed a parser-free bottleneck. The residual direction is bounded by alpha, and the frozen representation stays dominant.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training signal from section 3. Structured counterfactuals are not generic hard negatives: the edited caption is close in vocabulary but wrong in binding. Anchor and residual penalties are the guardrail pressure.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consolidated experiment slide replaces the separate design, ablation, stability, and boundary slides. Explain the run families as evidence logic: the selected checkpoint is not a single lucky number, but a point supported and bounded by controls, ablations, seed families, and external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main quantitative claim. R028 is not lossless; it is a better relation-versus-preservation point than hard-token or no-channel controls.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with the claim that the evidence actually supports: RRB can find a useful bounded residual direction, but the current recipe is not a full solution to compositional binding or robust preservation.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1">
                <a:solidFill>
                  <a:srgbClr val="2563EB"/>
                </a:solidFill>
              </a:rPr>
              <a:t>RRB / CLIP RELATION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96012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dirty="0">
                <a:solidFill>
                  <a:srgbClr val="1F2937"/>
                </a:solidFill>
              </a:rPr>
              <a:t>R</a:t>
            </a:r>
            <a:r>
              <a:rPr lang="en-US" altLang="zh-CN" sz="3400" b="1" dirty="0">
                <a:solidFill>
                  <a:srgbClr val="1F2937"/>
                </a:solidFill>
              </a:rPr>
              <a:t>esearch: R</a:t>
            </a:r>
            <a:r>
              <a:rPr sz="3400" b="1" dirty="0">
                <a:solidFill>
                  <a:srgbClr val="1F2937"/>
                </a:solidFill>
              </a:rPr>
              <a:t>elational Residual Bottlenecking for CLIP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423160"/>
            <a:ext cx="8046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dirty="0">
                <a:solidFill>
                  <a:srgbClr val="6B7280"/>
                </a:solidFill>
              </a:rPr>
              <a:t>A bounded residual route to relation-sensitive retrieval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154680"/>
            <a:ext cx="530352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9808" y="3977639"/>
            <a:ext cx="23317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" y="4087368"/>
            <a:ext cx="2057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F2937"/>
                </a:solidFill>
              </a:rPr>
              <a:t>frozen CLIP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93008" y="3977639"/>
            <a:ext cx="23317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30168" y="4087368"/>
            <a:ext cx="2057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F2937"/>
                </a:solidFill>
              </a:rPr>
              <a:t>bounded residual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3977639"/>
            <a:ext cx="233172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3368" y="4087368"/>
            <a:ext cx="2057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F2937"/>
                </a:solidFill>
              </a:rPr>
              <a:t>guardrail audit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074920"/>
            <a:ext cx="548640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200" dirty="0">
                <a:solidFill>
                  <a:srgbClr val="6B7280"/>
                </a:solidFill>
              </a:rPr>
              <a:t>CS510, </a:t>
            </a:r>
            <a:r>
              <a:rPr sz="1200" b="0" dirty="0">
                <a:solidFill>
                  <a:srgbClr val="6B7280"/>
                </a:solidFill>
              </a:rPr>
              <a:t>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782312"/>
            <a:ext cx="6858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 dirty="0">
                <a:solidFill>
                  <a:srgbClr val="1F2937"/>
                </a:solidFill>
              </a:rPr>
              <a:t>Zixuan Sun, Dehao Wu, Tianyi Wang, Yifei Wang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6446520"/>
            <a:ext cx="5943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</a:rP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01168"/>
            <a:ext cx="228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1">
                <a:solidFill>
                  <a:srgbClr val="2563EB"/>
                </a:solidFill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CLIP can keep the objects and miss the relation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05840"/>
            <a:ext cx="11064240" cy="1645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49808" y="1517904"/>
            <a:ext cx="77724" cy="77724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50976" y="1417320"/>
            <a:ext cx="4709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50" b="0">
                <a:solidFill>
                  <a:srgbClr val="1F2937"/>
                </a:solidFill>
              </a:rPr>
              <a:t>Counterfactual captions keep surface vocabulary close.</a:t>
            </a:r>
          </a:p>
        </p:txBody>
      </p:sp>
      <p:sp>
        <p:nvSpPr>
          <p:cNvPr id="7" name="Oval 6"/>
          <p:cNvSpPr/>
          <p:nvPr/>
        </p:nvSpPr>
        <p:spPr>
          <a:xfrm>
            <a:off x="749808" y="2194560"/>
            <a:ext cx="77724" cy="77724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50976" y="2093976"/>
            <a:ext cx="4709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50" b="0">
                <a:solidFill>
                  <a:srgbClr val="1F2937"/>
                </a:solidFill>
              </a:rPr>
              <a:t>The target change is relation, role, order, object, or attribute binding.</a:t>
            </a:r>
          </a:p>
        </p:txBody>
      </p:sp>
      <p:sp>
        <p:nvSpPr>
          <p:cNvPr id="9" name="Oval 8"/>
          <p:cNvSpPr/>
          <p:nvPr/>
        </p:nvSpPr>
        <p:spPr>
          <a:xfrm>
            <a:off x="749808" y="2871216"/>
            <a:ext cx="77724" cy="77724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770632"/>
            <a:ext cx="4709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50" b="0">
                <a:solidFill>
                  <a:srgbClr val="1F2937"/>
                </a:solidFill>
              </a:rPr>
              <a:t>A high similarity score is not enough if the binding is wrong.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1325880"/>
            <a:ext cx="416052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435607"/>
            <a:ext cx="3886200" cy="3657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1F2937"/>
                </a:solidFill>
              </a:rPr>
              <a:t>Image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514600"/>
            <a:ext cx="4709160" cy="566928"/>
          </a:xfrm>
          <a:prstGeom prst="roundRect">
            <a:avLst/>
          </a:prstGeom>
          <a:solidFill>
            <a:srgbClr val="E8F0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624328"/>
            <a:ext cx="44348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F2937"/>
                </a:solidFill>
              </a:rPr>
              <a:t>"dog left of bicycle"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47091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4087368"/>
            <a:ext cx="44348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F2937"/>
                </a:solidFill>
              </a:rPr>
              <a:t>"dog right of bicycle"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8503920" y="3182112"/>
            <a:ext cx="237744" cy="566928"/>
          </a:xfrm>
          <a:prstGeom prst="downArrow">
            <a:avLst/>
          </a:prstGeom>
          <a:solidFill>
            <a:srgbClr val="6B7280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887968" y="3310128"/>
            <a:ext cx="2194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50" b="0">
                <a:solidFill>
                  <a:srgbClr val="6B7280"/>
                </a:solidFill>
              </a:rPr>
              <a:t>small edit, different relation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5943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01168"/>
            <a:ext cx="228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1">
                <a:solidFill>
                  <a:srgbClr val="2563EB"/>
                </a:solidFill>
              </a:rPr>
              <a:t>RELATED WORK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Existing relation fixes often change the retrieval interface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05840"/>
            <a:ext cx="11064240" cy="1645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2" y="1298448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1F2937"/>
                </a:solidFill>
              </a:rPr>
              <a:t>CLIP compositional probes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63240" y="1298448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2563EB"/>
                </a:solidFill>
              </a:rPr>
              <a:t>ARO, SugarCrepe, Winoground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498348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20" b="0">
                <a:solidFill>
                  <a:srgbClr val="1F2937"/>
                </a:solidFill>
              </a:rPr>
              <a:t>Show bag-of-words behavior under relation, attribute, and order edits.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048255"/>
            <a:ext cx="10744200" cy="7315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2432304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1F2937"/>
                </a:solidFill>
              </a:rPr>
              <a:t>Structured matching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432304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2563EB"/>
                </a:solidFill>
              </a:rPr>
              <a:t>scene graphs, semantic graphs, graph reasoning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414016"/>
            <a:ext cx="498348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20" b="0">
                <a:solidFill>
                  <a:srgbClr val="1F2937"/>
                </a:solidFill>
              </a:rPr>
              <a:t>Expose relation structure, but often add parsers, graphs, or pairwise matching modules.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3182112"/>
            <a:ext cx="10744200" cy="7315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3566160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1F2937"/>
                </a:solidFill>
              </a:rPr>
              <a:t>Spatial / knowledge cues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356616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2563EB"/>
                </a:solidFill>
              </a:rPr>
              <a:t>spatial supervision, 3D graphs, knowledge graphs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547872"/>
            <a:ext cx="498348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20" b="0">
                <a:solidFill>
                  <a:srgbClr val="1F2937"/>
                </a:solidFill>
              </a:rPr>
              <a:t>Improve explicit structure, but move away from plain dual-encoder retrieval.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4315968"/>
            <a:ext cx="10744200" cy="7315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97280" y="5623560"/>
            <a:ext cx="10012680" cy="502920"/>
          </a:xfrm>
          <a:prstGeom prst="roundRect">
            <a:avLst/>
          </a:prstGeom>
          <a:solidFill>
            <a:srgbClr val="E8F0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34439" y="5733288"/>
            <a:ext cx="9738359" cy="338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2937"/>
                </a:solidFill>
              </a:rPr>
              <a:t>RRB keeps independent image/text embeddings and dot-product retrieval.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5943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01168"/>
            <a:ext cx="228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1">
                <a:solidFill>
                  <a:srgbClr val="2563EB"/>
                </a:solidFill>
              </a:rPr>
              <a:t>RELATED WORK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The closest prior art motivates a narrower claim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05840"/>
            <a:ext cx="11064240" cy="1645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2" y="1298448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1F2937"/>
                </a:solidFill>
              </a:rPr>
              <a:t>Reasoning benchmarks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63240" y="1298448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2563EB"/>
                </a:solidFill>
              </a:rPr>
              <a:t>scene-graph prompting, MIRB, causal diagnostics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498348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20" b="0">
                <a:solidFill>
                  <a:srgbClr val="1F2937"/>
                </a:solidFill>
              </a:rPr>
              <a:t>Motivate relation-sensitive evaluation, but mainly test broader multimodal reasoning settings.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048255"/>
            <a:ext cx="10744200" cy="7315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2432304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1F2937"/>
                </a:solidFill>
              </a:rPr>
              <a:t>Relation-aware CLIP adaptation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432304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2563EB"/>
                </a:solidFill>
              </a:rPr>
              <a:t>local RACA-CLIP manuscript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414016"/>
            <a:ext cx="498348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20" b="0">
                <a:solidFill>
                  <a:srgbClr val="1F2937"/>
                </a:solidFill>
              </a:rPr>
              <a:t>Conceptual prior art for relation sensitivity; RRB emphasizes residual preservation tradeoffs.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3182112"/>
            <a:ext cx="10744200" cy="7315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3566160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1F2937"/>
                </a:solidFill>
              </a:rPr>
              <a:t>Preservation-oriented PEFT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356616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2563EB"/>
                </a:solidFill>
              </a:rPr>
              <a:t>LoRA, null-space, projection, residual adapters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547872"/>
            <a:ext cx="498348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20" b="0">
                <a:solidFill>
                  <a:srgbClr val="1F2937"/>
                </a:solidFill>
              </a:rPr>
              <a:t>Provides adaptation tools; RRB does not claim residual adaptation itself is novel.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4315968"/>
            <a:ext cx="10744200" cy="7315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97280" y="5623560"/>
            <a:ext cx="10012680" cy="502920"/>
          </a:xfrm>
          <a:prstGeom prst="roundRect">
            <a:avLst/>
          </a:prstGeom>
          <a:solidFill>
            <a:srgbClr val="E8F0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34439" y="5733288"/>
            <a:ext cx="9738359" cy="338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2937"/>
                </a:solidFill>
              </a:rPr>
              <a:t>Supported contribution: structured counterfactual training through a bounded residual interface, evaluated as a tradeoff.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46520"/>
            <a:ext cx="5943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01168"/>
            <a:ext cx="228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1">
                <a:solidFill>
                  <a:srgbClr val="2563EB"/>
                </a:solidFill>
              </a:rPr>
              <a:t>METHOD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The method is constrained to the CLIP dual-encoder pattern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05840"/>
            <a:ext cx="11064240" cy="1645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04672" y="1426464"/>
            <a:ext cx="77724" cy="77724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325880"/>
            <a:ext cx="5394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50" b="0">
                <a:solidFill>
                  <a:srgbClr val="1F2937"/>
                </a:solidFill>
              </a:rPr>
              <a:t>Frozen image encoder f_v and text encoder f_t produce normalized z0.</a:t>
            </a:r>
          </a:p>
        </p:txBody>
      </p:sp>
      <p:sp>
        <p:nvSpPr>
          <p:cNvPr id="7" name="Oval 6"/>
          <p:cNvSpPr/>
          <p:nvPr/>
        </p:nvSpPr>
        <p:spPr>
          <a:xfrm>
            <a:off x="804672" y="2048255"/>
            <a:ext cx="77724" cy="77724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947672"/>
            <a:ext cx="5394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50" b="0">
                <a:solidFill>
                  <a:srgbClr val="1F2937"/>
                </a:solidFill>
              </a:rPr>
              <a:t>Image and text embeddings remain computable independently.</a:t>
            </a:r>
          </a:p>
        </p:txBody>
      </p:sp>
      <p:sp>
        <p:nvSpPr>
          <p:cNvPr id="9" name="Oval 8"/>
          <p:cNvSpPr/>
          <p:nvPr/>
        </p:nvSpPr>
        <p:spPr>
          <a:xfrm>
            <a:off x="804672" y="2670048"/>
            <a:ext cx="77724" cy="77724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569464"/>
            <a:ext cx="5394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50" b="0">
                <a:solidFill>
                  <a:srgbClr val="1F2937"/>
                </a:solidFill>
              </a:rPr>
              <a:t>No detector, parser, cross-attention reranker, scene graph, or candidate-pair module is added.</a:t>
            </a:r>
          </a:p>
        </p:txBody>
      </p:sp>
      <p:sp>
        <p:nvSpPr>
          <p:cNvPr id="11" name="Oval 10"/>
          <p:cNvSpPr/>
          <p:nvPr/>
        </p:nvSpPr>
        <p:spPr>
          <a:xfrm>
            <a:off x="804672" y="3291840"/>
            <a:ext cx="77724" cy="77724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3191256"/>
            <a:ext cx="5394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50" b="0">
                <a:solidFill>
                  <a:srgbClr val="1F2937"/>
                </a:solidFill>
              </a:rPr>
              <a:t>Final retrieval remains one dot product between normalized vectors.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3720" y="1508760"/>
            <a:ext cx="32918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40880" y="1618488"/>
            <a:ext cx="3017520" cy="338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2937"/>
                </a:solidFill>
              </a:rPr>
              <a:t>z_v = f_v(I)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03720" y="2331720"/>
            <a:ext cx="32918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040880" y="2441448"/>
            <a:ext cx="3017520" cy="338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2937"/>
                </a:solidFill>
              </a:rPr>
              <a:t>z_t = f_t(T)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3657600"/>
            <a:ext cx="3977639" cy="566928"/>
          </a:xfrm>
          <a:prstGeom prst="roundRect">
            <a:avLst/>
          </a:prstGeom>
          <a:solidFill>
            <a:srgbClr val="E8F0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20840" y="3767328"/>
            <a:ext cx="37033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1F2937"/>
                </a:solidFill>
              </a:rPr>
              <a:t>sim(I,T) = dot(z_v, z_t)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709160"/>
            <a:ext cx="4389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50" b="0">
                <a:solidFill>
                  <a:srgbClr val="6B7280"/>
                </a:solidFill>
              </a:rPr>
              <a:t>Design consequence: relation correction must fit inside the embedding path.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46520"/>
            <a:ext cx="5943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01168"/>
            <a:ext cx="228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1">
                <a:solidFill>
                  <a:srgbClr val="2563EB"/>
                </a:solidFill>
              </a:rPr>
              <a:t>METHOD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RRB adds a small residual path, not a replacement embedding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05840"/>
            <a:ext cx="11064240" cy="1645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rrb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143000"/>
            <a:ext cx="6812280" cy="45262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01000" y="1325880"/>
            <a:ext cx="3246120" cy="512064"/>
          </a:xfrm>
          <a:prstGeom prst="roundRect">
            <a:avLst/>
          </a:prstGeom>
          <a:solidFill>
            <a:srgbClr val="E8F0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138160" y="1435607"/>
            <a:ext cx="29718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20" b="0">
                <a:solidFill>
                  <a:srgbClr val="1F2937"/>
                </a:solidFill>
              </a:rPr>
              <a:t>K = 8 learned channel queries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2258568"/>
            <a:ext cx="3246120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38160" y="2368296"/>
            <a:ext cx="29718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20" b="0">
                <a:solidFill>
                  <a:srgbClr val="1F2937"/>
                </a:solidFill>
              </a:rPr>
              <a:t>channel self-attention + pooling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191256"/>
            <a:ext cx="3246120" cy="512064"/>
          </a:xfrm>
          <a:prstGeom prst="roundRect">
            <a:avLst/>
          </a:prstGeom>
          <a:solidFill>
            <a:srgbClr val="E8F0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38160" y="3300984"/>
            <a:ext cx="29718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20" b="1">
                <a:solidFill>
                  <a:srgbClr val="1F2937"/>
                </a:solidFill>
              </a:rPr>
              <a:t>z_out = normalize(z0 + alpha Delta)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4123944"/>
            <a:ext cx="3246120" cy="512064"/>
          </a:xfrm>
          <a:prstGeom prst="roundRect">
            <a:avLst/>
          </a:prstGeom>
          <a:solidFill>
            <a:srgbClr val="E8F0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38160" y="4233672"/>
            <a:ext cx="29718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20" b="1">
                <a:solidFill>
                  <a:srgbClr val="1F2937"/>
                </a:solidFill>
              </a:rPr>
              <a:t>fixed alpha = 0.05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5257800"/>
            <a:ext cx="3383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50" b="0">
                <a:solidFill>
                  <a:srgbClr val="6B7280"/>
                </a:solidFill>
              </a:rPr>
              <a:t>The bottleneck constrains where the relation objective can move CLIP.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1400" y="6446520"/>
            <a:ext cx="5943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01168"/>
            <a:ext cx="228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1">
                <a:solidFill>
                  <a:srgbClr val="2563EB"/>
                </a:solidFill>
              </a:rPr>
              <a:t>METHOD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The objective separates relation signal from preservation pressure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05840"/>
            <a:ext cx="11064240" cy="1645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14400" y="1234440"/>
            <a:ext cx="10287000" cy="658368"/>
          </a:xfrm>
          <a:prstGeom prst="roundRect">
            <a:avLst/>
          </a:prstGeom>
          <a:solidFill>
            <a:srgbClr val="E8F0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344168"/>
            <a:ext cx="100126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F2937"/>
                </a:solidFill>
              </a:rPr>
              <a:t>L = lambda_rel L_intervene + lambda_anchor L_anchor + lambda_delta L_delta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1828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2563EB"/>
                </a:solidFill>
              </a:rPr>
              <a:t>L_intervene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2331720"/>
            <a:ext cx="374903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40" b="1">
                <a:solidFill>
                  <a:srgbClr val="1F2937"/>
                </a:solidFill>
              </a:rPr>
              <a:t>margin ranking over structured counterfactual captions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2331720"/>
            <a:ext cx="4069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60" b="0">
                <a:solidFill>
                  <a:srgbClr val="1F2937"/>
                </a:solidFill>
              </a:rPr>
              <a:t>forces positive caption above edited relation negative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990087"/>
            <a:ext cx="10058400" cy="5486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3337560"/>
            <a:ext cx="1828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2563EB"/>
                </a:solidFill>
              </a:rPr>
              <a:t>L_anchor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3337560"/>
            <a:ext cx="374903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40" b="1">
                <a:solidFill>
                  <a:srgbClr val="1F2937"/>
                </a:solidFill>
              </a:rPr>
              <a:t>feature mimicry on anchor examples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3337560"/>
            <a:ext cx="4069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60" b="0">
                <a:solidFill>
                  <a:srgbClr val="1F2937"/>
                </a:solidFill>
              </a:rPr>
              <a:t>keeps output embeddings close to frozen OpenCLIP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995928"/>
            <a:ext cx="10058400" cy="5486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4343400"/>
            <a:ext cx="1828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>
                <a:solidFill>
                  <a:srgbClr val="2563EB"/>
                </a:solidFill>
              </a:rPr>
              <a:t>L_delta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4343400"/>
            <a:ext cx="374903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40" b="1">
                <a:solidFill>
                  <a:srgbClr val="1F2937"/>
                </a:solidFill>
              </a:rPr>
              <a:t>residual magnitude penalty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343400"/>
            <a:ext cx="4069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60" b="0">
                <a:solidFill>
                  <a:srgbClr val="1F2937"/>
                </a:solidFill>
              </a:rPr>
              <a:t>keeps Delta small before the fixed gate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5001768"/>
            <a:ext cx="10058400" cy="5486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5577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70" b="0">
                <a:solidFill>
                  <a:srgbClr val="6B7280"/>
                </a:solidFill>
              </a:rPr>
              <a:t>Selected R028 uses lambda_anchor = 10, lambda_delta = 0.01, anchor ratio = 0.75, and no targeted relational loss.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46520"/>
            <a:ext cx="5943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01168"/>
            <a:ext cx="228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1">
                <a:solidFill>
                  <a:srgbClr val="2563EB"/>
                </a:solidFill>
              </a:rPr>
              <a:t>EXPERIMENT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The run families isolate signal, stability, and claim boundaries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05840"/>
            <a:ext cx="11064240" cy="1645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50" b="1">
                <a:solidFill>
                  <a:srgbClr val="2563EB"/>
                </a:solidFill>
              </a:rPr>
              <a:t>Selection logic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72768"/>
            <a:ext cx="3474720" cy="914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764792"/>
            <a:ext cx="34747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80" b="1">
                <a:solidFill>
                  <a:srgbClr val="2563EB"/>
                </a:solidFill>
              </a:rPr>
              <a:t>R003 / R005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02536"/>
            <a:ext cx="3474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60" b="1">
                <a:solidFill>
                  <a:srgbClr val="1F2937"/>
                </a:solidFill>
              </a:rPr>
              <a:t>frozen OpenCLIP and plain-adapter baselines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67712"/>
            <a:ext cx="34747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dirty="0">
                <a:solidFill>
                  <a:srgbClr val="1F2937"/>
                </a:solidFill>
              </a:rPr>
              <a:t>reference relation/guardrail tradeoff before RRB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88335"/>
            <a:ext cx="3474720" cy="457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798063"/>
            <a:ext cx="34747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80" b="1">
                <a:solidFill>
                  <a:srgbClr val="2563EB"/>
                </a:solidFill>
              </a:rPr>
              <a:t>R011 / R014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35807"/>
            <a:ext cx="3474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60" b="1">
                <a:solidFill>
                  <a:srgbClr val="1F2937"/>
                </a:solidFill>
              </a:rPr>
              <a:t>hard-token replacement bottlenecks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00983"/>
            <a:ext cx="34747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1F2937"/>
                </a:solidFill>
              </a:rPr>
              <a:t>stress test: relation can rise while COCO/ImageNet collapse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21607"/>
            <a:ext cx="3474720" cy="457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3831335"/>
            <a:ext cx="34747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80" b="1">
                <a:solidFill>
                  <a:srgbClr val="2563EB"/>
                </a:solidFill>
              </a:rPr>
              <a:t>R028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69079"/>
            <a:ext cx="3474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60" b="1">
                <a:solidFill>
                  <a:srgbClr val="1F2937"/>
                </a:solidFill>
              </a:rPr>
              <a:t>selected no-targeted stronger-anchor RRB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34255"/>
            <a:ext cx="34747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1F2937"/>
                </a:solidFill>
              </a:rPr>
              <a:t>chosen because it passes relation, COCO, and ImageNet gates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754879"/>
            <a:ext cx="3474720" cy="457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4864607"/>
            <a:ext cx="34747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80" b="1">
                <a:solidFill>
                  <a:srgbClr val="2563EB"/>
                </a:solidFill>
              </a:rPr>
              <a:t>R033 / R040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1"/>
            <a:ext cx="3474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60" b="1">
                <a:solidFill>
                  <a:srgbClr val="1F2937"/>
                </a:solidFill>
              </a:rPr>
              <a:t>no-channel residual controls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367527"/>
            <a:ext cx="347472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1F2937"/>
                </a:solidFill>
              </a:rPr>
              <a:t>test whether a simpler residual path preserves CLIP; it does not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15968" y="1234440"/>
            <a:ext cx="9144" cy="452628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15968" y="1261872"/>
            <a:ext cx="3429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50" b="1">
                <a:solidFill>
                  <a:srgbClr val="2563EB"/>
                </a:solidFill>
              </a:rPr>
              <a:t>Training signal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15968" y="1572768"/>
            <a:ext cx="3429000" cy="914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15968" y="1764792"/>
            <a:ext cx="34290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80" b="1">
                <a:solidFill>
                  <a:srgbClr val="2563EB"/>
                </a:solidFill>
              </a:rPr>
              <a:t>R023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2002536"/>
            <a:ext cx="34290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60" b="1">
                <a:solidFill>
                  <a:srgbClr val="1F2937"/>
                </a:solidFill>
              </a:rPr>
              <a:t>no-targeted weak-anchor RRB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2267712"/>
            <a:ext cx="34290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1F2937"/>
                </a:solidFill>
              </a:rPr>
              <a:t>shows targeted slot loss is unnecessary but weak anchoring misses COCO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15968" y="2980944"/>
            <a:ext cx="3429000" cy="457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15968" y="3090672"/>
            <a:ext cx="34290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80" b="1">
                <a:solidFill>
                  <a:srgbClr val="2563EB"/>
                </a:solidFill>
              </a:rPr>
              <a:t>R024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5968" y="3328415"/>
            <a:ext cx="34290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60" b="1">
                <a:solidFill>
                  <a:srgbClr val="1F2937"/>
                </a:solidFill>
              </a:rPr>
              <a:t>generic hard-negative control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15968" y="3593591"/>
            <a:ext cx="34290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1F2937"/>
                </a:solidFill>
              </a:rPr>
              <a:t>rules out generic hard negatives; relation falls below the plain adapter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15968" y="4306824"/>
            <a:ext cx="3429000" cy="457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315968" y="4416552"/>
            <a:ext cx="34290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80" b="1">
                <a:solidFill>
                  <a:srgbClr val="2563EB"/>
                </a:solidFill>
              </a:rPr>
              <a:t>R029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4654296"/>
            <a:ext cx="34290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60" b="1">
                <a:solidFill>
                  <a:srgbClr val="1F2937"/>
                </a:solidFill>
              </a:rPr>
              <a:t>matched targeted stronger-anchor control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5968" y="4919472"/>
            <a:ext cx="34290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1F2937"/>
                </a:solidFill>
              </a:rPr>
              <a:t>adds targeted loss back; no tradeoff advantage over R028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46136" y="1234440"/>
            <a:ext cx="9144" cy="452628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936992" y="1261872"/>
            <a:ext cx="349300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50" b="1">
                <a:solidFill>
                  <a:srgbClr val="2563EB"/>
                </a:solidFill>
              </a:rPr>
              <a:t>Stability and limits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36992" y="1572768"/>
            <a:ext cx="3493008" cy="914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936992" y="1764792"/>
            <a:ext cx="349300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80" b="1">
                <a:solidFill>
                  <a:srgbClr val="2563EB"/>
                </a:solidFill>
              </a:rPr>
              <a:t>R019 / R025 / R027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36992" y="2002536"/>
            <a:ext cx="349300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60" b="1">
                <a:solidFill>
                  <a:srgbClr val="1F2937"/>
                </a:solidFill>
              </a:rPr>
              <a:t>full-RRB seed family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36992" y="2267712"/>
            <a:ext cx="349300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1F2937"/>
                </a:solidFill>
              </a:rPr>
              <a:t>relation stable, but COCO gate passes only 1/3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36992" y="2688335"/>
            <a:ext cx="3493008" cy="457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936992" y="2798063"/>
            <a:ext cx="349300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80" b="1">
                <a:solidFill>
                  <a:srgbClr val="2563EB"/>
                </a:solidFill>
              </a:rPr>
              <a:t>R028 / R031 / R032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36992" y="3035807"/>
            <a:ext cx="349300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60" b="1">
                <a:solidFill>
                  <a:srgbClr val="1F2937"/>
                </a:solidFill>
              </a:rPr>
              <a:t>anchor-10 no-targeted family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36992" y="3300983"/>
            <a:ext cx="349300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1F2937"/>
                </a:solidFill>
              </a:rPr>
              <a:t>selected recipe repeats relation gain; COCO passes 2/3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36992" y="3721607"/>
            <a:ext cx="3493008" cy="457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936992" y="3831335"/>
            <a:ext cx="349300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80" b="1">
                <a:solidFill>
                  <a:srgbClr val="2563EB"/>
                </a:solidFill>
              </a:rPr>
              <a:t>R035-R039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36992" y="4069079"/>
            <a:ext cx="349300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60" b="1">
                <a:solidFill>
                  <a:srgbClr val="1F2937"/>
                </a:solidFill>
              </a:rPr>
              <a:t>anchor-20 no-targeted sweep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36992" y="4334255"/>
            <a:ext cx="349300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1F2937"/>
                </a:solidFill>
              </a:rPr>
              <a:t>lower residual drift, but COCO pass rate remains 3/5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36992" y="4754879"/>
            <a:ext cx="3493008" cy="457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936992" y="4864607"/>
            <a:ext cx="349300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80" b="1">
                <a:solidFill>
                  <a:srgbClr val="2563EB"/>
                </a:solidFill>
              </a:rPr>
              <a:t>R030 / R034 / R041 / R043 / R045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36992" y="5102351"/>
            <a:ext cx="349300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60" b="1">
                <a:solidFill>
                  <a:srgbClr val="1F2937"/>
                </a:solidFill>
              </a:rPr>
              <a:t>diagnostics, Winoground, channel probe, ROP, Flickr30k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36992" y="5367527"/>
            <a:ext cx="349300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1F2937"/>
                </a:solidFill>
              </a:rPr>
              <a:t>bound the claim: no broad binding, no semantic slots, retrieval tax remains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01400" y="6446520"/>
            <a:ext cx="5943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01168"/>
            <a:ext cx="228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1">
                <a:solidFill>
                  <a:srgbClr val="2563EB"/>
                </a:solidFill>
              </a:rPr>
              <a:t>MAIN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Selected R028 improves relation while staying above guardrails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05840"/>
            <a:ext cx="11064240" cy="1645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rrb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170432"/>
            <a:ext cx="6583680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261872"/>
            <a:ext cx="3154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50" b="1">
                <a:solidFill>
                  <a:srgbClr val="2563EB"/>
                </a:solidFill>
              </a:rPr>
              <a:t>R005 plain adapter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26679" y="1581912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20" b="1">
                <a:solidFill>
                  <a:srgbClr val="1F2937"/>
                </a:solidFill>
              </a:rPr>
              <a:t>relation 0.6956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26679" y="1929384"/>
            <a:ext cx="3429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80" b="0">
                <a:solidFill>
                  <a:srgbClr val="6B7280"/>
                </a:solidFill>
              </a:rPr>
              <a:t>safe but weaker relation 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2560320"/>
            <a:ext cx="3154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50" b="1">
                <a:solidFill>
                  <a:srgbClr val="2563EB"/>
                </a:solidFill>
              </a:rPr>
              <a:t>R028 selected RRB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880360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20" b="1">
                <a:solidFill>
                  <a:srgbClr val="1F2937"/>
                </a:solidFill>
              </a:rPr>
              <a:t>relation 0.7734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3227832"/>
            <a:ext cx="3429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80" b="0">
                <a:solidFill>
                  <a:srgbClr val="6B7280"/>
                </a:solidFill>
              </a:rPr>
              <a:t>passes COCO 0.7340 and ImageNet 0.6342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3858768"/>
            <a:ext cx="3154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50" b="1">
                <a:solidFill>
                  <a:srgbClr val="2563EB"/>
                </a:solidFill>
              </a:rPr>
              <a:t>R033 no-channel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4178807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20" b="1">
                <a:solidFill>
                  <a:srgbClr val="1F2937"/>
                </a:solidFill>
              </a:rPr>
              <a:t>relation 0.7825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4526279"/>
            <a:ext cx="3429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80" b="0">
                <a:solidFill>
                  <a:srgbClr val="6B7280"/>
                </a:solidFill>
              </a:rPr>
              <a:t>higher relation but COCO collapses to 0.3740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1400" y="6446520"/>
            <a:ext cx="5943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01168"/>
            <a:ext cx="228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1">
                <a:solidFill>
                  <a:srgbClr val="2563EB"/>
                </a:solidFill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400" b="1">
                <a:solidFill>
                  <a:srgbClr val="1F2937"/>
                </a:solidFill>
              </a:rPr>
              <a:t>Best claim: a bounded relation-preservation tradeoff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05840"/>
            <a:ext cx="11064240" cy="1645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51560" y="1609344"/>
            <a:ext cx="77724" cy="77724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52728" y="1508760"/>
            <a:ext cx="9464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>
                <a:solidFill>
                  <a:srgbClr val="1F2937"/>
                </a:solidFill>
              </a:rPr>
              <a:t>RRB keeps CLIP's deployed dual-encoder interface intact.</a:t>
            </a:r>
          </a:p>
        </p:txBody>
      </p:sp>
      <p:sp>
        <p:nvSpPr>
          <p:cNvPr id="7" name="Oval 6"/>
          <p:cNvSpPr/>
          <p:nvPr/>
        </p:nvSpPr>
        <p:spPr>
          <a:xfrm>
            <a:off x="1051560" y="2359151"/>
            <a:ext cx="77724" cy="77724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52728" y="2258568"/>
            <a:ext cx="9464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>
                <a:solidFill>
                  <a:srgbClr val="1F2937"/>
                </a:solidFill>
              </a:rPr>
              <a:t>Structured relation counterfactuals are the useful signal.</a:t>
            </a:r>
          </a:p>
        </p:txBody>
      </p:sp>
      <p:sp>
        <p:nvSpPr>
          <p:cNvPr id="9" name="Oval 8"/>
          <p:cNvSpPr/>
          <p:nvPr/>
        </p:nvSpPr>
        <p:spPr>
          <a:xfrm>
            <a:off x="1051560" y="3108960"/>
            <a:ext cx="77724" cy="77724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52728" y="3008376"/>
            <a:ext cx="9464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>
                <a:solidFill>
                  <a:srgbClr val="1F2937"/>
                </a:solidFill>
              </a:rPr>
              <a:t>Preservation must be measured directly across seeds and external checks.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800600"/>
            <a:ext cx="9875520" cy="713232"/>
          </a:xfrm>
          <a:prstGeom prst="roundRect">
            <a:avLst/>
          </a:prstGeom>
          <a:solidFill>
            <a:srgbClr val="E8F0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34439" y="4910328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F2937"/>
                </a:solidFill>
              </a:rPr>
              <a:t>relation gains are useful only when preservation is audited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715000"/>
            <a:ext cx="9875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2937"/>
                </a:solidFill>
              </a:rPr>
              <a:t>Questions?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6446520"/>
            <a:ext cx="5943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</a:rP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1216</Words>
  <Application>Microsoft Office PowerPoint</Application>
  <PresentationFormat>宽屏</PresentationFormat>
  <Paragraphs>147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Zixuan Sun</cp:lastModifiedBy>
  <cp:revision>3</cp:revision>
  <dcterms:created xsi:type="dcterms:W3CDTF">2013-01-27T09:14:16Z</dcterms:created>
  <dcterms:modified xsi:type="dcterms:W3CDTF">2026-05-12T18:35:30Z</dcterms:modified>
  <cp:category/>
</cp:coreProperties>
</file>